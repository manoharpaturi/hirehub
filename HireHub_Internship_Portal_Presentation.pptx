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1920240"/>
            <a:ext cx="6583680" cy="65836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822960"/>
            <a:ext cx="4572000" cy="45720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5120640"/>
            <a:ext cx="4206240" cy="420624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6035040"/>
            <a:ext cx="2103120" cy="21031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5B4FC"/>
                </a:solidFill>
                <a:latin typeface="Segoe UI"/>
              </a:rPr>
              <a:t>FULL-STACK WEB APPLICATION  •  DBMS PROJECT  •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600" b="1">
                <a:solidFill>
                  <a:srgbClr val="FFFFFF"/>
                </a:solidFill>
                <a:latin typeface="Segoe UI"/>
              </a:rPr>
              <a:t>HireHub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7D2FE"/>
                </a:solidFill>
                <a:latin typeface="Segoe UI"/>
              </a:rPr>
              <a:t>Internship Portal — Connecting Students with Recruiters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9584"/>
            <a:ext cx="23774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67328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A three-tier system built on a normalized relational schema — covering internship discovery, applications, screening, interview scheduling and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34540" y="470916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React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1276" y="470916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8324" y="470916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MySQL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470916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SQLAlchemy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6952" y="470916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JWT 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47091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5B4FC"/>
                </a:solidFill>
                <a:latin typeface="Segoe UI"/>
              </a:rPr>
              <a:t>Tailwind 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623560"/>
            <a:ext cx="10515600" cy="2011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338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Presented by:  </a:t>
            </a:r>
            <a:r>
              <a:rPr sz="1600" b="1">
                <a:solidFill>
                  <a:srgbClr val="FFFFFF"/>
                </a:solidFill>
                <a:latin typeface="Segoe UI"/>
              </a:rPr>
              <a:t>Pushpak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Database Management Systems  •  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02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" y="16550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Introduction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574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" y="21122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1214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Motivation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5146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" y="25694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5786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Problem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718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" y="30266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035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Objectives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290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" y="34838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4930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Tech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8862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" y="39410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9502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3434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" y="43982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44074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File 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006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" y="48554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8646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ER Diagram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578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" y="53126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5321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UML Use-Case Diagram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7150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" y="57698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57790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Normalization 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61722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" y="62270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2728" y="62362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DDL Used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16002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27648" y="16550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16642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DML Used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20574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27648" y="21122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1214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Relational Algebra Expressions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25146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27648" y="25694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25786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CRUD Operations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29718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27648" y="30266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3035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Autonomous Triggers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34290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27648" y="34838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34930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Atomicity &amp; ACID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38862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27648" y="39410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9502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Key Features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43434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27648" y="43982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44074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Application Lifecycle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63640" y="48006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27648" y="48554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48646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Security &amp; Validation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63640" y="52578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327648" y="53126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5321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Future Enhancements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57150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327648" y="5769864"/>
            <a:ext cx="475488" cy="27432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57790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03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6492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HireHub is a full-stack internship portal — a web application backed by a normalized relational database that connects students seeking internships with recruiters offering them.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Every action in the UI maps to a REST call, and every REST call maps to SQL against a 12-table MySQL schema — making it a complete, working demonstration of DBMS concepts in a real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033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What the system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41648"/>
            <a:ext cx="6537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Student module — </a:t>
            </a:r>
            <a:r>
              <a:rPr sz="1350" b="0">
                <a:solidFill>
                  <a:srgbClr val="0F172A"/>
                </a:solidFill>
                <a:latin typeface="Segoe UI"/>
              </a:rPr>
              <a:t>discover, filter, apply, upload documents and track application status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Recruiter module — </a:t>
            </a:r>
            <a:r>
              <a:rPr sz="1350" b="0">
                <a:solidFill>
                  <a:srgbClr val="0F172A"/>
                </a:solidFill>
                <a:latin typeface="Segoe UI"/>
              </a:rPr>
              <a:t>post internships, screen applicants, update statuses, schedule interviews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Communication — </a:t>
            </a:r>
            <a:r>
              <a:rPr sz="1350" b="0">
                <a:solidFill>
                  <a:srgbClr val="0F172A"/>
                </a:solidFill>
                <a:latin typeface="Segoe UI"/>
              </a:rPr>
              <a:t>automatic notifications keep both sides informed of every 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Discovery engine — </a:t>
            </a:r>
            <a:r>
              <a:rPr sz="1350" b="0">
                <a:solidFill>
                  <a:srgbClr val="0F172A"/>
                </a:solidFill>
                <a:latin typeface="Segoe UI"/>
              </a:rPr>
              <a:t>keyword search, multi-filter queries, sorting, pagination, skill-based recommendations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572768"/>
            <a:ext cx="420624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2944" y="1746504"/>
            <a:ext cx="1051560" cy="621792"/>
          </a:xfrm>
          <a:prstGeom prst="roundRect">
            <a:avLst>
              <a:gd name="adj" fmla="val 18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1746504"/>
            <a:ext cx="1051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9488"/>
                </a:solidFill>
                <a:latin typeface="Segoe U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874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Relational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688336"/>
            <a:ext cx="420624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52944" y="2862072"/>
            <a:ext cx="1051560" cy="621792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862072"/>
            <a:ext cx="1051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46E5"/>
                </a:solidFill>
                <a:latin typeface="Segoe UI"/>
              </a:rPr>
              <a:t>25+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9900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REST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803904"/>
            <a:ext cx="420624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52944" y="3977640"/>
            <a:ext cx="1051560" cy="621792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3977640"/>
            <a:ext cx="1051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45309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1056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User Roles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4919472"/>
            <a:ext cx="420624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52944" y="5093208"/>
            <a:ext cx="1051560" cy="621792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5093208"/>
            <a:ext cx="1051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5803D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52212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API Routers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04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3611880" cy="4343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18288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For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312724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Internship postings are scattered across portals, LinkedIn groups and word-of-mouth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No single view of applied roles — statuses live in inboxes and spreadsheets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Repeatedly re-entering the same profile &amp; resume data on every 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611880" cy="4343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For Recruiters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514600"/>
            <a:ext cx="312724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Screening happens over email threads with no structured applicant 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Scheduling interviews and informing candidates is fully manual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No lightweight tool that covers posting → screening → scheduling in one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600200"/>
            <a:ext cx="3611880" cy="4343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5904" y="18288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8288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Academic 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514600"/>
            <a:ext cx="312724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Apply DBMS theory to a real system: normalization, keys, constraints, transactions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Demonstrate SQL, relational algebra and CRUD through visible product features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Build end-to-end engineering skill: database → API → user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0819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F46E5"/>
                </a:solidFill>
                <a:latin typeface="Segoe UI"/>
              </a:rPr>
              <a:t>The gap:  </a:t>
            </a:r>
            <a:r>
              <a:rPr sz="1400" b="0">
                <a:solidFill>
                  <a:srgbClr val="475569"/>
                </a:solidFill>
                <a:latin typeface="Segoe UI"/>
              </a:rPr>
              <a:t>no single end-to-end system that takes both sides from discovery to a final decision — with guaranteed data integrity underneath.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05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104698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“ </a:t>
            </a:r>
            <a:r>
              <a:rPr sz="1550" b="0">
                <a:solidFill>
                  <a:srgbClr val="0F172A"/>
                </a:solidFill>
                <a:latin typeface="Segoe UI"/>
              </a:rPr>
              <a:t>Students and recruiters need one reliable platform where internship discovery, application, screening, interview scheduling and outcomes are managed consistently — backed by a normalized relational database that eliminates redundancy, enforces integrity through constraints, and supports efficient multi-criteria queries.</a:t>
            </a:r>
            <a:r>
              <a:rPr sz="1800" b="1">
                <a:solidFill>
                  <a:srgbClr val="4F46E5"/>
                </a:solidFill>
                <a:latin typeface="Segoe UI"/>
              </a:rPr>
              <a:t> 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101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Pain points of the current manual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03320"/>
            <a:ext cx="5431536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831336"/>
            <a:ext cx="45720" cy="78638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813048"/>
            <a:ext cx="5074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Fragmented discovery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Roles spread across many portals; students miss deadlines and opportunities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703320"/>
            <a:ext cx="5431536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831336"/>
            <a:ext cx="45720" cy="78638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13048"/>
            <a:ext cx="5074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Zero status visibility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Applicants learn outcomes late, or never — no tracking, no 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92040"/>
            <a:ext cx="5431536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" y="5020056"/>
            <a:ext cx="45720" cy="78638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001768"/>
            <a:ext cx="5074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Manual screening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Recruiters compare candidates from email threads and unstructured resumes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892040"/>
            <a:ext cx="5431536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020056"/>
            <a:ext cx="45720" cy="78638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001768"/>
            <a:ext cx="5074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Data redundancy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The same student, company and role data re-typed into every tool — inconsistencies creep 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08076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179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E123C"/>
                </a:solidFill>
                <a:latin typeface="Segoe UI"/>
              </a:rPr>
              <a:t>No integrity rules — </a:t>
            </a:r>
            <a:r>
              <a:rPr sz="1300" b="0">
                <a:solidFill>
                  <a:srgbClr val="475569"/>
                </a:solidFill>
                <a:latin typeface="Segoe UI"/>
              </a:rPr>
              <a:t>Spreadsheets allow orphaned records, duplicates and invalid statuses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06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874520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700784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Design a normalized schema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Model the internship domain in 12 relational tables, normalized up to BCNF, with surrogate keys and no redundancy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572768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45936" y="1874520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700784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Expose secure REST APIs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Role-based endpoints for students and recruiters, protected by JWT authentication and Pydantic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798064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09981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9260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Implement complete CRUD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Every resource supports Create, Read, Update and Delete — mapped cleanly to SQL statements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798064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309981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9260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Enforce integrity in the DBMS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Primary/foreign keys, UNIQUE constraints, ON DELETE CASCADE / SET NULL referential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23360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4325112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151376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Automate workflows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Event-driven triggers: notifications on apply &amp; status change, auto status advance on interview scheduling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023360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45936" y="4325112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151376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Guarantee ACID transactions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Atomic multi-table writes (application + notification commit together or not at all)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48656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5550408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5376672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Rich discovery experience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Keyword search, filters, sorting, pagination and skill-based recommendations over indexed columns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5248656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5550408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5376672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Deliver a usable product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A responsive React SPA with dedicated dashboards for both roles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07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2724912" cy="4526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2724912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556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9488"/>
                </a:solidFill>
                <a:latin typeface="Segoe U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76272"/>
            <a:ext cx="239572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React 19 + TypeScript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component-based SPA, static typing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Vite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dev server &amp; production bundler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Tailwind CSS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utility-first responsive styling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Axios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HTTP client with JWT request interceptor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React Router 7, Context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navigation, auth &amp; notification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572768"/>
            <a:ext cx="2724912" cy="4526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144" y="1572768"/>
            <a:ext cx="2724912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7556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4F46E5"/>
                </a:solidFill>
                <a:latin typeface="Sego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176272"/>
            <a:ext cx="239572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Python FastAPI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high-performance async REST framework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Uvicorn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ASGI server running the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SQLAlchemy 2.0 ORM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models → tables, session transactions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Pydantic v2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request/response validation &amp; schemas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python-jose (JWT)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token signing &amp;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72768"/>
            <a:ext cx="2724912" cy="4526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572768"/>
            <a:ext cx="2724912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556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45309"/>
                </a:solidFill>
                <a:latin typeface="Segoe UI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76272"/>
            <a:ext cx="239572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MySQL 8.0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relational store, InnoDB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utf8mb4 charset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full Unicode, including ₹ symbol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12 tables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normalized up to BCNF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Indexes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on email, titles, locations &amp; all FKs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PyMySQL driver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SQLAlchemy ↔ MySQL connector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572768"/>
            <a:ext cx="2724912" cy="4526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572768"/>
            <a:ext cx="2724912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7556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5803D"/>
                </a:solidFill>
                <a:latin typeface="Segoe UI"/>
              </a:rPr>
              <a:t>Tools &amp; Practices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176272"/>
            <a:ext cx="239572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Swagger / OpenAPI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auto-generated interactive docs at /docs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Git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version control across the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oxlint + TypeScript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static analysis, fewer runtime bugs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Demo seeding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auto-created demo data on first startup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Base64 document storage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resumes stored in MEDIUMTEXT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System Architecture — Three-Tier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08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554480"/>
            <a:ext cx="749807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1554480"/>
            <a:ext cx="82296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664208"/>
            <a:ext cx="7040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D9488"/>
                </a:solidFill>
                <a:latin typeface="Segoe UI"/>
              </a:rPr>
              <a:t>PRESENTATION TIER   </a:t>
            </a:r>
            <a:r>
              <a:rPr sz="1200" b="0">
                <a:solidFill>
                  <a:srgbClr val="475569"/>
                </a:solidFill>
                <a:latin typeface="Segoe UI"/>
              </a:rPr>
              <a:t>React 19 + TypeScript SPA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475569"/>
                </a:solidFill>
                <a:latin typeface="Segoe UI"/>
              </a:rPr>
              <a:t>Component-based UI: listings, dashboards, tracker, calendar  •  Axios client with JWT Bearer-token interceptor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475569"/>
                </a:solidFill>
                <a:latin typeface="Segoe UI"/>
              </a:rPr>
              <a:t>Context API for auth, notifications &amp; theme state  •  Tailwind CSS — responsive layouts for both roles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736592" y="2871216"/>
            <a:ext cx="384048" cy="310896"/>
          </a:xfrm>
          <a:prstGeom prst="down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200400"/>
            <a:ext cx="749807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3200400"/>
            <a:ext cx="82296" cy="12984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3310128"/>
            <a:ext cx="7040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4F46E5"/>
                </a:solidFill>
                <a:latin typeface="Segoe UI"/>
              </a:rPr>
              <a:t>APPLICATION TIER   </a:t>
            </a:r>
            <a:r>
              <a:rPr sz="1200" b="0">
                <a:solidFill>
                  <a:srgbClr val="475569"/>
                </a:solidFill>
                <a:latin typeface="Segoe UI"/>
              </a:rPr>
              <a:t>FastAPI REST API (Uvicorn, port 8000)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475569"/>
                </a:solidFill>
                <a:latin typeface="Segoe UI"/>
              </a:rPr>
              <a:t>6 routers: auth, students, internships, applications, notifications, recruiter  •  Pydantic schemas validate every request &amp; response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475569"/>
                </a:solidFill>
                <a:latin typeface="Segoe UI"/>
              </a:rPr>
              <a:t>JWT authentication + role-based dependency guards  •  Business logic: triggers, lifecycle rules, recommendations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736592" y="4517136"/>
            <a:ext cx="384048" cy="310896"/>
          </a:xfrm>
          <a:prstGeom prst="down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4846320"/>
            <a:ext cx="7498079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4846320"/>
            <a:ext cx="82296" cy="12984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4956048"/>
            <a:ext cx="7040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DATA TIER   </a:t>
            </a:r>
            <a:r>
              <a:rPr sz="1200" b="0">
                <a:solidFill>
                  <a:srgbClr val="475569"/>
                </a:solidFill>
                <a:latin typeface="Segoe UI"/>
              </a:rPr>
              <a:t>MySQL 8.0 — internship_portal (12 tables)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475569"/>
                </a:solidFill>
                <a:latin typeface="Segoe UI"/>
              </a:rPr>
              <a:t>InnoDB engine: transactions, row-level locking, MVCC  •  PK / FK constraints with CASCADE / SET NULL rules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475569"/>
                </a:solidFill>
                <a:latin typeface="Segoe UI"/>
              </a:rPr>
              <a:t>Indexes on searchable columns and all foreign keys  •  SQLAlchemy 2.0 ORM maps Python models ↔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554480"/>
            <a:ext cx="2633472" cy="4572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737360"/>
            <a:ext cx="22860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3730A3"/>
                </a:solidFill>
                <a:latin typeface="Segoe UI"/>
              </a:rPr>
              <a:t>Request Flow</a:t>
            </a:r>
            <a:r>
              <a:rPr sz="1080" b="1">
                <a:solidFill>
                  <a:srgbClr val="3730A3"/>
                </a:solidFill>
                <a:latin typeface="Segoe UI"/>
              </a:rPr>
              <a:t>•  </a:t>
            </a:r>
            <a:r>
              <a:rPr sz="1080" b="0">
                <a:solidFill>
                  <a:srgbClr val="0F172A"/>
                </a:solidFill>
                <a:latin typeface="Segoe UI"/>
              </a:rPr>
              <a:t>Browser renders the SPA and calls https//…/api endpoints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3730A3"/>
                </a:solidFill>
                <a:latin typeface="Segoe UI"/>
              </a:rPr>
              <a:t>•  </a:t>
            </a:r>
            <a:r>
              <a:rPr sz="1080" b="0">
                <a:solidFill>
                  <a:srgbClr val="0F172A"/>
                </a:solidFill>
                <a:latin typeface="Segoe UI"/>
              </a:rPr>
              <a:t>Axios attaches Authorization: Bearer &lt;JWT&gt; to every call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3730A3"/>
                </a:solidFill>
                <a:latin typeface="Segoe UI"/>
              </a:rPr>
              <a:t>•  </a:t>
            </a:r>
            <a:r>
              <a:rPr sz="1080" b="0">
                <a:solidFill>
                  <a:srgbClr val="0F172A"/>
                </a:solidFill>
                <a:latin typeface="Segoe UI"/>
              </a:rPr>
              <a:t>FastAPI validates the token, resolves the user &amp; role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3730A3"/>
                </a:solidFill>
                <a:latin typeface="Segoe UI"/>
              </a:rPr>
              <a:t>•  </a:t>
            </a:r>
            <a:r>
              <a:rPr sz="1080" b="0">
                <a:solidFill>
                  <a:srgbClr val="0F172A"/>
                </a:solidFill>
                <a:latin typeface="Segoe UI"/>
              </a:rPr>
              <a:t>Router applies filters / business rules via SQLAlchemy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3730A3"/>
                </a:solidFill>
                <a:latin typeface="Segoe UI"/>
              </a:rPr>
              <a:t>•  </a:t>
            </a:r>
            <a:r>
              <a:rPr sz="1080" b="0">
                <a:solidFill>
                  <a:srgbClr val="0F172A"/>
                </a:solidFill>
                <a:latin typeface="Segoe UI"/>
              </a:rPr>
              <a:t>MySQL returns rows; the ORM maps them to objects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80" b="1">
                <a:solidFill>
                  <a:srgbClr val="3730A3"/>
                </a:solidFill>
                <a:latin typeface="Segoe UI"/>
              </a:rPr>
              <a:t>•  </a:t>
            </a:r>
            <a:r>
              <a:rPr sz="1080" b="0">
                <a:solidFill>
                  <a:srgbClr val="0F172A"/>
                </a:solidFill>
                <a:latin typeface="Segoe UI"/>
              </a:rPr>
              <a:t>JSON response drives the React UI — notifications update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199632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5569"/>
                </a:solidFill>
                <a:latin typeface="Segoe UI"/>
              </a:rPr>
              <a:t>Stateless API  •  </a:t>
            </a:r>
            <a:r>
              <a:rPr sz="1150" b="0">
                <a:solidFill>
                  <a:srgbClr val="475569"/>
                </a:solidFill>
                <a:latin typeface="Segoe UI"/>
              </a:rPr>
              <a:t>every request is self-describing; horizontal scale-ready. Interactive docs auto-served at /docs (Swagger).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File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09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6675120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82496"/>
            <a:ext cx="6345936" cy="435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internship-portal/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├─ backend/                  # FastAPI + SQLAlchemy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├─ app/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├─ core/               # config · security (JWT, hashing)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├─ db/                 # database · models (12 ORM classes)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│                      # · init_db (demo seed)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├─ routers/            # auth · students · internships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│                      # · applications · notifications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│                      # · recruiter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├─ schemas/            # Pydantic request/response models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└─ main.py             # FastAPI app · CORS · lifespan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├─ schema.sql             # MySQL 8 DDL (12 tables)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└─ requirements.txt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├─ frontend/                 # React 19 + TypeScript SPA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├─ src/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├─ components/         # Auth · Dashboard · Internships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│                      # · Tracker · Recruiter · Profile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├─ context/            # Auth · Notification · Theme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├─ services/api.ts     # Axios client + JWT interceptor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│  └─ types/              # shared TypeScript types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│  └─ package.json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19" b="0">
                <a:solidFill>
                  <a:srgbClr val="0F172A"/>
                </a:solidFill>
                <a:latin typeface="Consolas"/>
              </a:rPr>
              <a:t>└─ docs/                     # ER diagram (mmd · html · png)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72768"/>
            <a:ext cx="411480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691640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730A3"/>
                </a:solidFill>
                <a:latin typeface="Segoe UI"/>
              </a:rPr>
              <a:t>Separation of concerns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routers (HTTP) are isolated from db models (schema) and core (cross-cutting security &amp; config)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761488"/>
            <a:ext cx="411480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880360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730A3"/>
                </a:solidFill>
                <a:latin typeface="Segoe UI"/>
              </a:rPr>
              <a:t>Schema as 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models.py is the single source of truth — tables auto-create on startup; schema.sql is the equivalent DDL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950208"/>
            <a:ext cx="411480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4069080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730A3"/>
                </a:solidFill>
                <a:latin typeface="Segoe UI"/>
              </a:rPr>
              <a:t>Component-driven 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each screen is a self-contained component tree; contexts hold global auth &amp; notification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5138928"/>
            <a:ext cx="4114800" cy="1042415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5257800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730A3"/>
                </a:solidFill>
                <a:latin typeface="Segoe UI"/>
              </a:rPr>
              <a:t>Docs included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ER diagram ships with the repo in Mermaid, HTML and PNG 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Entity-Relationship (ER)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809244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r-diagram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041" y="1559052"/>
            <a:ext cx="2424197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96528" y="157276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Relationships 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984248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1956816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USERS  1:1  STUDENTS / RECRUITER_PROFILES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one account extends into exactly one role profile (UNIQUE user_id enforces 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6528" y="2715768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2688336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RECRUITER  1:N  INTERNSHIPS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a recruiter posts many internships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6528" y="3447288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3419856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STUDENT  M:N  SKILLS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via join table student_skills, with proficiency_level attribute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96528" y="4178808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4151376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STUDENT  M:N  INTERNSHIPS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via applications (with status) and saved_internships (bookmarks)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4910328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4882896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APPLICATION  1:N  INTERVIEWS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each application can lead to scheduled interviews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96528" y="5641848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5614416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USERS  1:N  NOTIFICATIONS / MESSAGES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per-user alerts and peer-to-peer messaging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UML Use-Case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17904"/>
            <a:ext cx="6537960" cy="48463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591056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75569"/>
                </a:solidFill>
                <a:latin typeface="Segoe UI"/>
              </a:rPr>
              <a:t>HireHub — Internship Portal 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3154680" y="201168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Register / Login (JWT)</a:t>
            </a:r>
          </a:p>
        </p:txBody>
      </p:sp>
      <p:sp>
        <p:nvSpPr>
          <p:cNvPr id="12" name="Oval 11"/>
          <p:cNvSpPr/>
          <p:nvPr/>
        </p:nvSpPr>
        <p:spPr>
          <a:xfrm>
            <a:off x="3154680" y="278892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Browse &amp; Search Internships</a:t>
            </a:r>
          </a:p>
        </p:txBody>
      </p:sp>
      <p:sp>
        <p:nvSpPr>
          <p:cNvPr id="13" name="Oval 12"/>
          <p:cNvSpPr/>
          <p:nvPr/>
        </p:nvSpPr>
        <p:spPr>
          <a:xfrm>
            <a:off x="3154680" y="356616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Filter · Sort · Save Roles</a:t>
            </a:r>
          </a:p>
        </p:txBody>
      </p:sp>
      <p:sp>
        <p:nvSpPr>
          <p:cNvPr id="14" name="Oval 13"/>
          <p:cNvSpPr/>
          <p:nvPr/>
        </p:nvSpPr>
        <p:spPr>
          <a:xfrm>
            <a:off x="3154680" y="434340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Apply with Cover Letter &amp; Resume</a:t>
            </a:r>
          </a:p>
        </p:txBody>
      </p:sp>
      <p:sp>
        <p:nvSpPr>
          <p:cNvPr id="15" name="Oval 14"/>
          <p:cNvSpPr/>
          <p:nvPr/>
        </p:nvSpPr>
        <p:spPr>
          <a:xfrm>
            <a:off x="3154680" y="512064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Track Application Status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201168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Post / Edit Internships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78892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Screen Applicants (joined view)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56616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Update Application Status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434340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Schedule Interviews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5120640"/>
            <a:ext cx="2148840" cy="5669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View Dashboard Stats</a:t>
            </a:r>
          </a:p>
        </p:txBody>
      </p:sp>
      <p:sp>
        <p:nvSpPr>
          <p:cNvPr id="21" name="Oval 20"/>
          <p:cNvSpPr/>
          <p:nvPr/>
        </p:nvSpPr>
        <p:spPr>
          <a:xfrm>
            <a:off x="4956048" y="5742432"/>
            <a:ext cx="2148840" cy="502920"/>
          </a:xfrm>
          <a:prstGeom prst="ellipse">
            <a:avLst/>
          </a:prstGeom>
          <a:solidFill>
            <a:srgbClr val="CCFBF1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F172A"/>
                </a:solidFill>
                <a:latin typeface="Segoe UI"/>
              </a:rPr>
              <a:t>Receive Notifications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1289304" y="27432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94460" y="3017520"/>
            <a:ext cx="4572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16152" y="3108960"/>
            <a:ext cx="402336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234440" y="3410712"/>
            <a:ext cx="109728" cy="265176"/>
          </a:xfrm>
          <a:prstGeom prst="line">
            <a:avLst/>
          </a:prstGeom>
          <a:ln w="19050">
            <a:solidFill>
              <a:srgbClr val="4F4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490472" y="3410712"/>
            <a:ext cx="109728" cy="265176"/>
          </a:xfrm>
          <a:prstGeom prst="line">
            <a:avLst/>
          </a:prstGeom>
          <a:ln w="19050">
            <a:solidFill>
              <a:srgbClr val="4F4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3749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Student</a:t>
            </a:r>
          </a:p>
        </p:txBody>
      </p:sp>
      <p:sp>
        <p:nvSpPr>
          <p:cNvPr id="28" name="Oval 27"/>
          <p:cNvSpPr/>
          <p:nvPr/>
        </p:nvSpPr>
        <p:spPr>
          <a:xfrm>
            <a:off x="10616184" y="27432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21340" y="3017520"/>
            <a:ext cx="45720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43032" y="3108960"/>
            <a:ext cx="402336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561320" y="3410712"/>
            <a:ext cx="109728" cy="265176"/>
          </a:xfrm>
          <a:prstGeom prst="line">
            <a:avLst/>
          </a:prstGeom>
          <a:ln w="19050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817352" y="3410712"/>
            <a:ext cx="109728" cy="265176"/>
          </a:xfrm>
          <a:prstGeom prst="line">
            <a:avLst/>
          </a:prstGeom>
          <a:ln w="19050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58400" y="3749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Recruiter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737360" y="2286000"/>
            <a:ext cx="1417320" cy="132588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737360" y="3063240"/>
            <a:ext cx="1417320" cy="64008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37360" y="3794760"/>
            <a:ext cx="1417320" cy="82296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37360" y="3886200"/>
            <a:ext cx="1417320" cy="150876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37360" y="3977639"/>
            <a:ext cx="3218688" cy="1965961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8915400" y="2286000"/>
            <a:ext cx="1508760" cy="132588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915400" y="3063240"/>
            <a:ext cx="1508760" cy="64008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915400" y="3794760"/>
            <a:ext cx="1508760" cy="4572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915400" y="3886200"/>
            <a:ext cx="1508760" cy="73152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104888" y="3977639"/>
            <a:ext cx="3319272" cy="1965961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5806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75569"/>
                </a:solidFill>
                <a:latin typeface="Consolas"/>
              </a:rPr>
              <a:t>«include»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Every protected use case includes authentication.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Normalization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12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10512"/>
            <a:ext cx="777240" cy="475488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82496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Atomic values; no repeating groups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475569"/>
                </a:solidFill>
                <a:latin typeface="Segoe UI"/>
              </a:rPr>
              <a:t>Every column holds a single value; each table has a PK (surrogate AUTO_INCREMENT id). Multi-valued facts became separate rows — e.g. a student's skills live in the student_skills join table, not a comma list on students.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70048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07792"/>
            <a:ext cx="777240" cy="475488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79776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No partial dependency on part of a key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475569"/>
                </a:solidFill>
                <a:latin typeface="Segoe UI"/>
              </a:rPr>
              <a:t>All tables use single-column surrogate PKs, so partial dependencies cannot exist. Bridge tables (student_skills, saved_internships) carry only attributes that depend on the whole pair — proficiency_level, saved_at.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005072"/>
            <a:ext cx="777240" cy="475488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77056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No transitive (non-key → non-key) dependency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475569"/>
                </a:solidFill>
                <a:latin typeface="Segoe UI"/>
              </a:rPr>
              <a:t>Auth data (email, hash, role) lives only in users; student &amp; company details live in their own profiles. Application status depends only on the application key — company or student details are referenced by FK, never copied into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64608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777240" cy="475488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BCNF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74336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Every determinant is a candidate key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475569"/>
                </a:solidFill>
                <a:latin typeface="Segoe UI"/>
              </a:rPr>
              <a:t>users.email and skills.name are UNIQUE alternate keys; all other determinism flows from the surrogate PKs — no non-key column determines another non-key column.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98464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10819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</a:rPr>
              <a:t>Deliberate, documented exception:  </a:t>
            </a:r>
            <a:r>
              <a:rPr sz="1200" b="0">
                <a:solidFill>
                  <a:srgbClr val="475569"/>
                </a:solidFill>
                <a:latin typeface="Segoe UI"/>
              </a:rPr>
              <a:t>internships.skills_required keeps a free-text skill string to power fast LIKE-search on listings — while skill tagging stays fully normalized in the skills / student_skills tables. Search convenience without losing integrity.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DDL Used — Data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13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6537960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82496"/>
            <a:ext cx="6208776" cy="435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CREATE DATABASE IF NOT EXISTS internship_portal;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USE internship_portal;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CREATE TABLE users 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id            INT AUTO_INCREMENT PRIMARY KEY,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email         VARCHAR(255) NOT NULL UNIQUE,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password_hash VARCHAR(255) NOT NULL,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role          VARCHAR(50) DEFAULT 'student',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is_active     BOOLEAN     DEFAULT TRUE,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created_at    DATETIME DEFAULT CURRENT_TIMESTAMP,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INDEX idx_users_email (email)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) ENGINE=InnoDB DEFAULT CHARSET=utf8mb4;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CREATE TABLE applications 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id            INT AUTO_INCREMENT PRIMARY KEY,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student_id    INT NOT NULL,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internship_id INT NOT NULL,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status        VARCHAR(50) DEFAULT 'Applied',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applied_at    DATETIME DEFAULT CURRENT_TIMESTAMP,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FOREIGN KEY (student_id)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    REFERENCES students(id) ON DELETE CASCADE,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FOREIGN KEY (internship_id)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      REFERENCES internships(id) ON DELETE CASCADE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60" b="0">
                <a:solidFill>
                  <a:srgbClr val="0F172A"/>
                </a:solidFill>
                <a:latin typeface="Consolas"/>
              </a:rPr>
              <a:t>) ENGINE=InnoDB;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57276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Constructs used across the 12 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84248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56816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CREATE DATABASE / 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database + 12 tables defined once, idempotent IF NOT EXISTS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519172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491740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PRIMARY KEY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surrogate AUTO_INCREMENT id in every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3054096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026664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UNIQUE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users.email, skills.name, and user_id in students / recruiter_profiles (enforces 1:1)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589020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561588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NOT NULL + DEFAULT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mandatory fields; sensible defaults ('Applied', TRUE, ₹, CURRENT_TIMESTAMP)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4123944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4096512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FOREIGN KEY … ON 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CASCADE cleanup of dependent rows; SET NULL for interviews.internship_id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4658868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4631436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INDEX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secondary indexes on email, names, title/company/location and every FK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5193792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5166360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ENGINE=InnoDB + utf8mb4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transactional storage; full Unicode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5728716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5701284"/>
            <a:ext cx="4069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ON UPDATE CURRENT_TIMESTAMP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475569"/>
                </a:solidFill>
                <a:latin typeface="Segoe UI"/>
              </a:rPr>
              <a:t>updated_at audit column refreshes automatically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DML Used — Data Manipulation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14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00784"/>
            <a:ext cx="2377440" cy="329184"/>
          </a:xfrm>
          <a:prstGeom prst="roundRect">
            <a:avLst>
              <a:gd name="adj" fmla="val 3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D9488"/>
                </a:solidFill>
                <a:latin typeface="Segoe UI"/>
              </a:rPr>
              <a:t>INSERT — Create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121408"/>
            <a:ext cx="5047488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231136"/>
            <a:ext cx="471830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POST /api/auth/register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INSERT INTO users (email, password_hash, role)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VALUES ('ravi@demo.com', 'sha256$ab12…', 'student');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INSERT INTO applications (student_id,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    internship_id, cover_letter)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VALUES (7, 3, 'I am passionate about…');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72768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2" y="1700784"/>
            <a:ext cx="2377440" cy="329184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700784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Segoe UI"/>
              </a:rPr>
              <a:t>SELECT — 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121408"/>
            <a:ext cx="5047488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231136"/>
            <a:ext cx="471830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GET /api/internships?mode=Remote&amp;min_stipend=20000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SELECT title, company_name, stipend_amount, deadline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FROM internships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WHERE is_active = TRUE AND mode = 'Remote'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  AND stipend_amount &gt;= 20000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  AND (title LIKE '%data%' OR skills_required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       LIKE '%data%')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ORDER BY created_at DESC LIMIT 20 OFFSET 0;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13632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041648"/>
            <a:ext cx="2377440" cy="329184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45309"/>
                </a:solidFill>
                <a:latin typeface="Segoe UI"/>
              </a:rPr>
              <a:t>UPDATE — Modify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4462272"/>
            <a:ext cx="5047488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572000"/>
            <a:ext cx="471830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PUT /api/recruiter/applications/42/status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UPDATE applications SET status = 'Shortlisted'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WHERE id = 42;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PUT /api/students/profile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UPDATE students SET cgpa = 8.9, location = 'Bengaluru'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WHERE user_id = 15;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13632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73952" y="4041648"/>
            <a:ext cx="2377440" cy="329184"/>
          </a:xfrm>
          <a:prstGeom prst="roundRect">
            <a:avLst>
              <a:gd name="adj" fmla="val 3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41648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E123C"/>
                </a:solidFill>
                <a:latin typeface="Segoe UI"/>
              </a:rPr>
              <a:t>DELETE — Remove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7376" y="4462272"/>
            <a:ext cx="5047488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572000"/>
            <a:ext cx="471830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DELETE /api/applications/42  (student withdraws)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DELETE FROM applications WHERE id = 42;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DELETE /api/recruiter/internships/5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0F172A"/>
                </a:solidFill>
                <a:latin typeface="Consolas"/>
              </a:rPr>
              <a:t>DELETE FROM internships WHERE id = 5;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FKs auto-clean applications, saved rows &amp;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960" b="0">
                <a:solidFill>
                  <a:srgbClr val="475569"/>
                </a:solidFill>
                <a:latin typeface="Consolas"/>
              </a:rPr>
              <a:t>-- interviews (CASCADE / SET NULL)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Relational Algebra Expressions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15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Cambria Math"/>
              </a:rPr>
              <a:t>σ  selection      π  projection      ⋈  join      −  difference      ∪  union      G  grouping / 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8366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54864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751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Selection σ — filtered listings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730A3"/>
                </a:solidFill>
                <a:latin typeface="Cambria Math"/>
              </a:rPr>
              <a:t>σ mode='Remote' ∧ stipend_amount ≥ 20000 ∧ is_active ( INTERNSHIPS 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GET /api/internships?mode=Remote&amp;min_stipend=20000 — filters compose with AND at query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9806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98064"/>
            <a:ext cx="54864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895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Projection π — listing columns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730A3"/>
                </a:solidFill>
                <a:latin typeface="Cambria Math"/>
              </a:rPr>
              <a:t>π title, company_name, stipend_amount, deadline ( INTERNSHIPS 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Only the needed attributes are returned — mirrors the API response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1246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12464"/>
            <a:ext cx="54864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03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Join ⋈ — recruiter applicant 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730A3"/>
                </a:solidFill>
                <a:latin typeface="Cambria Math"/>
              </a:rPr>
              <a:t>π full_name, title, company_name, status ( STUDENTS ⋈ APPLICATIONS ⋈ INTERNSHIPS 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GET /api/recruiter/applicants — three-table natural join over the FKs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2686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626864"/>
            <a:ext cx="54864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7183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Difference − — saved but not applied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730A3"/>
                </a:solidFill>
                <a:latin typeface="Cambria Math"/>
              </a:rPr>
              <a:t>π internship_id (σ student_id=s (SAVED_INTERNSHIPS))  −  π internship_id (σ student_id=s (APPLICATIONS))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Powers the 'Saved' tab minus already-applied roles for student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4126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541264"/>
            <a:ext cx="54864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6327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Aggregation G — dashboard stats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730A3"/>
                </a:solidFill>
                <a:latin typeface="Cambria Math"/>
              </a:rPr>
              <a:t>internship_id  G  count(*) ( APPLICATIONS )        ℱ  AVG stipend_amount ( INTERNSHIPS 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GET /api/recruiter/stats — applicants per role; average stipend across listings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CRUD Operations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16 / 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1106424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114800"/>
                <a:gridCol w="329184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Operation</a:t>
                      </a:r>
                    </a:p>
                  </a:txBody>
                  <a:tcPr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REST Endpoint</a:t>
                      </a:r>
                    </a:p>
                  </a:txBody>
                  <a:tcPr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SQL Statement</a:t>
                      </a:r>
                    </a:p>
                  </a:txBody>
                  <a:tcPr marL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Where in the UI</a:t>
                      </a:r>
                    </a:p>
                  </a:txBody>
                  <a:tcPr marL="91440" marT="27432" marB="27432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D9488"/>
                          </a:solidFill>
                          <a:latin typeface="Segoe UI"/>
                        </a:rPr>
                        <a:t>CREATE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POST /api/auth/register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INSERT INTO users + students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Sign-up modal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D9488"/>
                          </a:solidFill>
                          <a:latin typeface="Segoe UI"/>
                        </a:rPr>
                        <a:t>CREATE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POST /api/applications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INSERT INTO applications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Apply on internship card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D9488"/>
                          </a:solidFill>
                          <a:latin typeface="Segoe UI"/>
                        </a:rPr>
                        <a:t>CREATE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POST /api/recruiter/internships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INSERT INTO internships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Recruiter 'Post Internship'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Segoe UI"/>
                        </a:rPr>
                        <a:t>READ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GET /api/internships?search&amp;mode&amp;min_stipend…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SELECT … WHERE/LIKE/ORDER/LIMIT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Browse &amp; search page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Segoe UI"/>
                        </a:rPr>
                        <a:t>READ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GET /api/recruiter/applicants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SELECT over 3-table JOIN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Applicants view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Segoe UI"/>
                        </a:rPr>
                        <a:t>READ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GET /api/recruiter/stats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SELECT COUNT(*) … GROUP BY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Recruiter dashboard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UPDATE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PUT /api/recruiter/applications/{id}/status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UPDATE applications SET status …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Applicant status buttons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45309"/>
                          </a:solidFill>
                          <a:latin typeface="Segoe UI"/>
                        </a:rPr>
                        <a:t>UPDATE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PUT /api/recruiter/internships/{id}/toggle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UPDATE internships SET is_active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Manage listings</a:t>
                      </a:r>
                    </a:p>
                  </a:txBody>
                  <a:tcPr marL="91440" marT="18288" marB="18288" marR="54864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E123C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0F172A"/>
                          </a:solidFill>
                          <a:latin typeface="Consolas"/>
                        </a:rPr>
                        <a:t>DELETE /api/applications/{id}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Consolas"/>
                        </a:rPr>
                        <a:t>DELETE FROM applications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0" b="0">
                          <a:solidFill>
                            <a:srgbClr val="475569"/>
                          </a:solidFill>
                          <a:latin typeface="Segoe UI"/>
                        </a:rPr>
                        <a:t>Withdraw application</a:t>
                      </a:r>
                    </a:p>
                  </a:txBody>
                  <a:tcPr marL="91440" marT="18288" marB="18288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Autonomous Triggers — Automated System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17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792224"/>
            <a:ext cx="960120" cy="40233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92224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TRIGGER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64208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Student submits an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AUTOMATED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Consolas"/>
              </a:rPr>
              <a:t>INSERT INTO applications 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→  system instantly INSERTs a notification row: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“Application Submitted — your application for '{title}' at {company} was successful.”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Both rows commit in one transaction (atomic).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42032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2761488"/>
            <a:ext cx="960120" cy="402336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61488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TRIGGER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33472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Recruiter changes application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15184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AUTOMATED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Consolas"/>
              </a:rPr>
              <a:t>UPDATE applications SET status = 'Shortlisted' 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→  student is automatically notified: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“Application Status Updated: Shortlisted” — no manual email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11296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3730752"/>
            <a:ext cx="960120" cy="402336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730752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TRIGGER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02736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Interview is scheduled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84448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AUTOMATED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Consolas"/>
              </a:rPr>
              <a:t>INSERT INTO interviews 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→  application status auto-advances: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UPDATE applications SET status = 'Interview Scheduled'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→  + notification with date, time &amp; meeting 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480560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" y="4700016"/>
            <a:ext cx="960120" cy="402336"/>
          </a:xfrm>
          <a:prstGeom prst="roundRect">
            <a:avLst>
              <a:gd name="adj" fmla="val 25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70001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TRIGGER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572000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Row deleted (DB-level, declarative)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553712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AUTOMATED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Consolas"/>
              </a:rPr>
              <a:t>DELETE FROM internships / users 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→  ON DELETE CASCADE wipes dependent applications,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saved rows &amp; child interviews automatically;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interviews.internship_id uses ON DELETE SET NULL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449824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5669280"/>
            <a:ext cx="960120" cy="402336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669280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TRIGGER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541264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Any profile row updated (DB-level)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522976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AUTOMATED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Consolas"/>
              </a:rPr>
              <a:t>UPDATE students / recruiter_profiles 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→  ON UPDATE CURRENT_TIMESTAMP refreshes updated_at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890" b="0">
                <a:solidFill>
                  <a:srgbClr val="475569"/>
                </a:solidFill>
                <a:latin typeface="Segoe UI"/>
              </a:rPr>
              <a:t>— an automatic audit trail with zero application 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Atomicity &amp; ACID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18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6583680" cy="23774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37360"/>
            <a:ext cx="6126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730A3"/>
                </a:solidFill>
                <a:latin typeface="Segoe UI"/>
              </a:rPr>
              <a:t>What atomicity guarantees here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When a student applies, </a:t>
            </a:r>
            <a:r>
              <a:rPr sz="1300" b="1">
                <a:solidFill>
                  <a:srgbClr val="0F172A"/>
                </a:solidFill>
                <a:latin typeface="Segoe UI"/>
              </a:rPr>
              <a:t>two tables must change</a:t>
            </a:r>
            <a:r>
              <a:rPr sz="1300" b="0">
                <a:solidFill>
                  <a:srgbClr val="0F172A"/>
                </a:solidFill>
                <a:latin typeface="Segoe UI"/>
              </a:rPr>
              <a:t> — a row in applications AND a confirmation row in notifications. They are staged in one SQLAlchemy session and committed with a single db.commit(). If any part fails, the session rolls back and </a:t>
            </a:r>
            <a:r>
              <a:rPr sz="1300" b="1">
                <a:solidFill>
                  <a:srgbClr val="0F172A"/>
                </a:solidFill>
                <a:latin typeface="Segoe UI"/>
              </a:rPr>
              <a:t>neither row is written</a:t>
            </a:r>
            <a:r>
              <a:rPr sz="1300" b="0">
                <a:solidFill>
                  <a:srgbClr val="0F172A"/>
                </a:solidFill>
                <a:latin typeface="Segoe UI"/>
              </a:rPr>
              <a:t> — the database never shows an application without its notification, or vice-versa.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14800"/>
            <a:ext cx="6583680" cy="2057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24528"/>
            <a:ext cx="6254496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80" b="0">
                <a:solidFill>
                  <a:srgbClr val="475569"/>
                </a:solidFill>
                <a:latin typeface="Consolas"/>
              </a:rPr>
              <a:t># applications.py — one atomic transaction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80" b="0">
                <a:solidFill>
                  <a:srgbClr val="0F172A"/>
                </a:solidFill>
                <a:latin typeface="Consolas"/>
              </a:rPr>
              <a:t>db.add(new_app)            # stage INSERT into applications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80" b="0">
                <a:solidFill>
                  <a:srgbClr val="0F172A"/>
                </a:solidFill>
                <a:latin typeface="Consolas"/>
              </a:rPr>
              <a:t>db.add(Notification(       # stage INSERT into notifications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80" b="0">
                <a:solidFill>
                  <a:srgbClr val="0F172A"/>
                </a:solidFill>
                <a:latin typeface="Consolas"/>
              </a:rPr>
              <a:t>    user_id=current_user.id,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80" b="0">
                <a:solidFill>
                  <a:srgbClr val="0F172A"/>
                </a:solidFill>
                <a:latin typeface="Consolas"/>
              </a:rPr>
              <a:t>    title="Application Submitted",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80" b="0">
                <a:solidFill>
                  <a:srgbClr val="0F172A"/>
                </a:solidFill>
                <a:latin typeface="Consolas"/>
              </a:rPr>
              <a:t>    message=f"… '{internship.title}' at {internship.company_name} …"))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1080" b="0">
                <a:solidFill>
                  <a:srgbClr val="0F172A"/>
                </a:solidFill>
                <a:latin typeface="Consolas"/>
              </a:rPr>
              <a:t>db.commit()                # BOTH rows persist — or NEITHER does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72768"/>
            <a:ext cx="4206240" cy="10607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1572768"/>
            <a:ext cx="64008" cy="10607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2" y="1700784"/>
            <a:ext cx="3794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D9488"/>
                </a:solidFill>
                <a:latin typeface="Segoe UI"/>
              </a:rPr>
              <a:t>A — Atomicity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All-or-nothing commits; failed multi-table writes roll back entirely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79776"/>
            <a:ext cx="4206240" cy="10607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2779776"/>
            <a:ext cx="64008" cy="10607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2907792"/>
            <a:ext cx="3794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4F46E5"/>
                </a:solidFill>
                <a:latin typeface="Segoe UI"/>
              </a:rPr>
              <a:t>C — Consistency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PK/FK/UNIQUE constraints + Pydantic validation keep data valid in every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986784"/>
            <a:ext cx="4206240" cy="10607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3986784"/>
            <a:ext cx="64008" cy="10607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4114800"/>
            <a:ext cx="3794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I — Isolation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InnoDB MVCC &amp; row locks — concurrent students can apply simultaneously without conflicts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5193792"/>
            <a:ext cx="4206240" cy="10607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5193792"/>
            <a:ext cx="64008" cy="106070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2" y="5321808"/>
            <a:ext cx="3794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5803D"/>
                </a:solidFill>
                <a:latin typeface="Segoe UI"/>
              </a:rPr>
              <a:t>D — Durability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75569"/>
                </a:solidFill>
                <a:latin typeface="Segoe UI"/>
              </a:rPr>
              <a:t>Once commit() returns, InnoDB redo logging survives crashes — no accepted application is lost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19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3639312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773936"/>
            <a:ext cx="3273552" cy="420624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73936"/>
            <a:ext cx="32735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Student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40864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Keyword search across title, company, description &amp; skills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Filters: location, mode, min stipend, duration, skills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Sorting (newest / stipend / deadline) + pagination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One-click apply with cover letter &amp; attached resume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Saved-internships bookmarking with a dedicated tab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Live application tracker with status timeline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Profile: university, CGPA, portfolio, GitHub, LinkedIn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Document vault — resumes stored &amp; served from the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72768"/>
            <a:ext cx="3639312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773936"/>
            <a:ext cx="3273552" cy="420624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773936"/>
            <a:ext cx="32735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F46E5"/>
                </a:solidFill>
                <a:latin typeface="Segoe UI"/>
              </a:rPr>
              <a:t>Recruiter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340864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Post, edit, pause/unpause and delete internships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Consolidated applicant list via 3-table join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Status pipeline: Under Review → Shortlisted → Accepted/Rejected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Interview scheduler with type, duration &amp; meeting link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Dashboard stats: posts, applications, interviews, offers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Company profile: logo, industry, size, website, LinkedIn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72768"/>
            <a:ext cx="3639312" cy="4572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773936"/>
            <a:ext cx="3273552" cy="420624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773936"/>
            <a:ext cx="32735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Segoe UI"/>
              </a:rPr>
              <a:t>System-Wide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40864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Skill-based internship recommendations for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Automatic notifications on every lifecycle 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JWT auth with role-based access on protected routes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Splash → role-aware dashboards (student / recruiter)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Dark / light theme via ThemeContext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•  </a:t>
            </a:r>
            <a:r>
              <a:rPr sz="1100" b="0">
                <a:solidFill>
                  <a:srgbClr val="0F172A"/>
                </a:solidFill>
                <a:latin typeface="Segoe UI"/>
              </a:rPr>
              <a:t>Demo data seeded on first startup for instant walkthrough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Application Lifecycle — Status State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20 / 24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2148840"/>
            <a:ext cx="2395728" cy="960120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4572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student submits application + resume</a:t>
            </a:r>
          </a:p>
        </p:txBody>
      </p:sp>
      <p:sp>
        <p:nvSpPr>
          <p:cNvPr id="11" name="Chevron 10"/>
          <p:cNvSpPr/>
          <p:nvPr/>
        </p:nvSpPr>
        <p:spPr>
          <a:xfrm>
            <a:off x="2871216" y="2148840"/>
            <a:ext cx="2395728" cy="960120"/>
          </a:xfrm>
          <a:prstGeom prst="chevron">
            <a:avLst/>
          </a:prstGeom>
          <a:solidFill>
            <a:srgbClr val="036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4572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Under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2461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recruiter opens the applicant view</a:t>
            </a:r>
          </a:p>
        </p:txBody>
      </p:sp>
      <p:sp>
        <p:nvSpPr>
          <p:cNvPr id="13" name="Chevron 12"/>
          <p:cNvSpPr/>
          <p:nvPr/>
        </p:nvSpPr>
        <p:spPr>
          <a:xfrm>
            <a:off x="5175504" y="2148840"/>
            <a:ext cx="2395728" cy="960120"/>
          </a:xfrm>
          <a:prstGeom prst="chevron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4572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Shortlisted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32461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recruiter marks candidate as promising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7479792" y="2148840"/>
            <a:ext cx="2395728" cy="96012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4572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Interview Scheduled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2461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interview booked — status auto-updates</a:t>
            </a:r>
          </a:p>
        </p:txBody>
      </p:sp>
      <p:sp>
        <p:nvSpPr>
          <p:cNvPr id="17" name="Chevron 16"/>
          <p:cNvSpPr/>
          <p:nvPr/>
        </p:nvSpPr>
        <p:spPr>
          <a:xfrm>
            <a:off x="9784080" y="2148840"/>
            <a:ext cx="2395728" cy="960120"/>
          </a:xfrm>
          <a:prstGeom prst="chevron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4572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Accepted / 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461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final decision; student notified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605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9768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Every transition is event-driven:  </a:t>
            </a:r>
            <a:r>
              <a:rPr sz="1300" b="0">
                <a:solidFill>
                  <a:srgbClr val="475569"/>
                </a:solidFill>
                <a:latin typeface="Segoe UI"/>
              </a:rPr>
              <a:t>each status change fires an automatic notification to the student, and scheduling an interview advances the state machine by itself — the recruiter never updates two places.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349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50" b="1">
                <a:solidFill>
                  <a:srgbClr val="0F172A"/>
                </a:solidFill>
                <a:latin typeface="Segoe UI"/>
              </a:rPr>
              <a:t>Guarded transitions — </a:t>
            </a:r>
            <a:r>
              <a:rPr sz="1250" b="0">
                <a:solidFill>
                  <a:srgbClr val="0F172A"/>
                </a:solidFill>
                <a:latin typeface="Segoe UI"/>
              </a:rPr>
              <a:t>status changes are only accepted from the recruiter who owns the posting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50" b="1">
                <a:solidFill>
                  <a:srgbClr val="0F172A"/>
                </a:solidFill>
                <a:latin typeface="Segoe UI"/>
              </a:rPr>
              <a:t>Auditable history — </a:t>
            </a:r>
            <a:r>
              <a:rPr sz="1250" b="0">
                <a:solidFill>
                  <a:srgbClr val="0F172A"/>
                </a:solidFill>
                <a:latin typeface="Segoe UI"/>
              </a:rPr>
              <a:t>applied_at, updated_at and notification rows timestamp every step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4F46E5"/>
                </a:solidFill>
                <a:latin typeface="Segoe UI"/>
              </a:rPr>
              <a:t>•  </a:t>
            </a:r>
            <a:r>
              <a:rPr sz="1250" b="1">
                <a:solidFill>
                  <a:srgbClr val="0F172A"/>
                </a:solidFill>
                <a:latin typeface="Segoe UI"/>
              </a:rPr>
              <a:t>No dead ends — </a:t>
            </a:r>
            <a:r>
              <a:rPr sz="1250" b="0">
                <a:solidFill>
                  <a:srgbClr val="0F172A"/>
                </a:solidFill>
                <a:latin typeface="Segoe UI"/>
              </a:rPr>
              <a:t>students withdraw cleanly (DELETE), which cascades away pending interviews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Security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21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2724912" cy="4206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2724912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739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F46E5"/>
                </a:solidFill>
                <a:latin typeface="Segoe UI"/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12848"/>
            <a:ext cx="23957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JWT bearer tokens signed with a server secret (python-jose)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Token expiry built into every issued credential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Passwords stored only as salted-format SHA-256 hashes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4F46E5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Login / register return short-lived access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572768"/>
            <a:ext cx="2724912" cy="4206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144" y="1572768"/>
            <a:ext cx="2724912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7739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212848"/>
            <a:ext cx="23957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0D9488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Role field on every user: student | recruiter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0D9488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FastAPI dependency guards protect each router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0D9488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Students reach student endpoints only; recruiters theirs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0D9488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Ownership checks — recruiters edit only their own posts &amp; applicants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72768"/>
            <a:ext cx="2724912" cy="4206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572768"/>
            <a:ext cx="2724912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739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45309"/>
                </a:solidFill>
                <a:latin typeface="Segoe UI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12848"/>
            <a:ext cx="23957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B45309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Pydantic schemas validate shape &amp; types of every request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B45309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email-validator rejects malformed addresses at signup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B45309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Multipart uploads capped (8 MB) &amp; stored as base64 in MEDIUMTEXT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B45309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Invalid payloads fail fast with 422 — never reach 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572768"/>
            <a:ext cx="2724912" cy="4206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572768"/>
            <a:ext cx="2724912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7739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5803D"/>
                </a:solidFill>
                <a:latin typeface="Segoe UI"/>
              </a:rPr>
              <a:t>Transport &amp;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212848"/>
            <a:ext cx="23957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15803D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CORS middleware controls browser access to the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15803D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Credentials &amp; secrets via environment settings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15803D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Parameterized ORM queries — no string-built SQL, no injection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060" b="1">
                <a:solidFill>
                  <a:srgbClr val="15803D"/>
                </a:solidFill>
                <a:latin typeface="Segoe UI"/>
              </a:rPr>
              <a:t>•  </a:t>
            </a:r>
            <a:r>
              <a:rPr sz="1060" b="0">
                <a:solidFill>
                  <a:srgbClr val="0F172A"/>
                </a:solidFill>
                <a:latin typeface="Segoe UI"/>
              </a:rPr>
              <a:t>Inactive accounts can be disabled via is_active 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Defense in depth:  </a:t>
            </a:r>
            <a:r>
              <a:rPr sz="1250" b="0">
                <a:solidFill>
                  <a:srgbClr val="475569"/>
                </a:solidFill>
                <a:latin typeface="Segoe UI"/>
              </a:rPr>
              <a:t>UI guards  →  JWT verification  →  role &amp; ownership checks  →  schema validation  →  parameterized SQL  →  DB constraints.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22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8745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700784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Resume parsing &amp; auto-tagging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Extract skills from uploaded resumes to auto-fill student_skills — making the M:N skill graph zero-effort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572768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45936" y="18745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700784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Matching &amp; ranking engine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Score students against postings using skill overlap, stipend &amp; mode preferences (a real σ/⋈ workload)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798064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3099816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9260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Real-time in-app messaging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The messages table is already modeled with sender/receiver FKs — surface it with WebSocket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798064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3099816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9260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Email &amp; SMS delivery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Mirror in-app notifications to email/SMS for deadlines and interview 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23360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4325112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151376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Company verification badges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Verified-employer workflow to build student trust in postings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023360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45936" y="4325112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151376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Analytics dashboards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Funnel metrics per posting: views → applies → interviews → offers, over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48656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5550408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5376672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Containerized deployment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Docker Compose for one-command spin-up of MySQL + API + frontend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5248656"/>
            <a:ext cx="5431536" cy="1097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5550408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5376672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Accessibility &amp; i18n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WCAG-audited flows and multi-language UI for wider reach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SECTION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7772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HireHub — Internship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23 /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658368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19072"/>
            <a:ext cx="6126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 complete, working system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Discovery → application → screening → interview → decision, running end-to-end on one normalized MySQL schema with 12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90672"/>
            <a:ext cx="658368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90672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6126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DBMS theory made tangible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Normalization to BCNF, keys &amp; constraints, DDL/DML, relational algebra, triggers and ACID transactions are all visible product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08576"/>
            <a:ext cx="658368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608576"/>
            <a:ext cx="64008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6126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Production-grade practices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Layered architecture, ORM-based parameterized SQL, JWT security, auto-generated API docs, seeded demo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572768"/>
            <a:ext cx="4206240" cy="455371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783080"/>
            <a:ext cx="3657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By the numbers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A5B4FC"/>
                </a:solidFill>
                <a:latin typeface="Segoe UI"/>
              </a:rPr>
              <a:t>12   </a:t>
            </a:r>
            <a:r>
              <a:rPr sz="1200" b="0">
                <a:solidFill>
                  <a:srgbClr val="CBD5E1"/>
                </a:solidFill>
                <a:latin typeface="Segoe UI"/>
              </a:rPr>
              <a:t>normalized tables (BCNF)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A5B4FC"/>
                </a:solidFill>
                <a:latin typeface="Segoe UI"/>
              </a:rPr>
              <a:t>25+   </a:t>
            </a:r>
            <a:r>
              <a:rPr sz="1200" b="0">
                <a:solidFill>
                  <a:srgbClr val="CBD5E1"/>
                </a:solidFill>
                <a:latin typeface="Segoe UI"/>
              </a:rPr>
              <a:t>REST endpoints across 6 routers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A5B4FC"/>
                </a:solidFill>
                <a:latin typeface="Segoe UI"/>
              </a:rPr>
              <a:t>15   </a:t>
            </a:r>
            <a:r>
              <a:rPr sz="1200" b="0">
                <a:solidFill>
                  <a:srgbClr val="CBD5E1"/>
                </a:solidFill>
                <a:latin typeface="Segoe UI"/>
              </a:rPr>
              <a:t>foreign-key relationships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A5B4FC"/>
                </a:solidFill>
                <a:latin typeface="Segoe UI"/>
              </a:rPr>
              <a:t>5   </a:t>
            </a:r>
            <a:r>
              <a:rPr sz="1200" b="0">
                <a:solidFill>
                  <a:srgbClr val="CBD5E1"/>
                </a:solidFill>
                <a:latin typeface="Segoe UI"/>
              </a:rPr>
              <a:t>autonomous triggers / automations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A5B4FC"/>
                </a:solidFill>
                <a:latin typeface="Segoe UI"/>
              </a:rPr>
              <a:t>20+   </a:t>
            </a:r>
            <a:r>
              <a:rPr sz="1200" b="0">
                <a:solidFill>
                  <a:srgbClr val="CBD5E1"/>
                </a:solidFill>
                <a:latin typeface="Segoe UI"/>
              </a:rPr>
              <a:t>secondary indexes for fast queries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A5B4FC"/>
                </a:solidFill>
                <a:latin typeface="Segoe UI"/>
              </a:rPr>
              <a:t>2   </a:t>
            </a:r>
            <a:r>
              <a:rPr sz="1200" b="0">
                <a:solidFill>
                  <a:srgbClr val="CBD5E1"/>
                </a:solidFill>
                <a:latin typeface="Segoe UI"/>
              </a:rPr>
              <a:t>roles with dedicated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Learning outcome:  </a:t>
            </a:r>
            <a:r>
              <a:rPr sz="1250" b="0">
                <a:solidFill>
                  <a:srgbClr val="475569"/>
                </a:solidFill>
                <a:latin typeface="Segoe UI"/>
              </a:rPr>
              <a:t>designing schema first — keys, constraints and normal forms — made every layer above it (API, triggers, UI) simpler, safer and faster to build.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05840"/>
            <a:ext cx="4297680" cy="42976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4937760"/>
            <a:ext cx="4389120" cy="438912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43600"/>
            <a:ext cx="2194560" cy="21945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7D2FE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77639"/>
            <a:ext cx="23774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HireHub — Internship Portal</a:t>
            </a:r>
            <a:r>
              <a:rPr sz="1300" b="0">
                <a:solidFill>
                  <a:srgbClr val="94A3B8"/>
                </a:solidFill>
                <a:latin typeface="Segoe UI"/>
              </a:rPr>
              <a:t>   •   FastAPI + React + MySQL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Presented by Pushpak  • 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